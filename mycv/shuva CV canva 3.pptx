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Poppins" charset="1" panose="00000500000000000000"/>
      <p:regular r:id="rId8"/>
    </p:embeddedFont>
    <p:embeddedFont>
      <p:font typeface="Montserrat Semi-Bold" charset="1" panose="00000700000000000000"/>
      <p:regular r:id="rId9"/>
    </p:embeddedFont>
    <p:embeddedFont>
      <p:font typeface="Montserrat Bold" charset="1" panose="00000800000000000000"/>
      <p:regular r:id="rId10"/>
    </p:embeddedFont>
    <p:embeddedFont>
      <p:font typeface="Poppins Bold" charset="1" panose="00000800000000000000"/>
      <p:regular r:id="rId11"/>
    </p:embeddedFont>
    <p:embeddedFont>
      <p:font typeface="Montserrat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https://wa.me/8801322736650" TargetMode="External" Type="http://schemas.openxmlformats.org/officeDocument/2006/relationships/hyperlink"/><Relationship Id="rId12" Target="https://www.linkedin.com/in/shuva-roy/" TargetMode="External" Type="http://schemas.openxmlformats.org/officeDocument/2006/relationships/hyperlink"/><Relationship Id="rId13" Target="https://github.com/shuvacst" TargetMode="External" Type="http://schemas.openxmlformats.org/officeDocument/2006/relationships/hyperlink"/><Relationship Id="rId14" Target="http://shuvacst.github.io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shuvacst/shuvacst.projects/tree/main/Cisco-Static-MACBinding-ssh-gns3" TargetMode="External" Type="http://schemas.openxmlformats.org/officeDocument/2006/relationships/hyperlink"/><Relationship Id="rId11" Target="https://github.com/shuvacst/shuvacst.projects/tree/main/Cisco-Static-MACBinding-ssh-gns3" TargetMode="External" Type="http://schemas.openxmlformats.org/officeDocument/2006/relationships/hyperlink"/><Relationship Id="rId12" Target="https://github.com/shuvacst/shuvacst.projects/tree/main/networking-Lab-8-11-25-pkt" TargetMode="External" Type="http://schemas.openxmlformats.org/officeDocument/2006/relationships/hyperlink"/><Relationship Id="rId2" Target="http://shuvacst.github.io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https://github.com/shuvacst/shuvacst.projects/tree/main/Cisco-Static-MACBinding-ssh-gns3" TargetMode="External" Type="http://schemas.openxmlformats.org/officeDocument/2006/relationships/hyperlink"/><Relationship Id="rId6" Target="https://github.com/shuvacst/shuvacst.projects/tree/main/eigrp-nat-acl-30-10-25" TargetMode="External" Type="http://schemas.openxmlformats.org/officeDocument/2006/relationships/hyperlink"/><Relationship Id="rId7" Target="https://github.com/shuvacst/shuvacst.projects/tree/main/mikrotic%2Bcisco-29-10-25-gns3" TargetMode="External" Type="http://schemas.openxmlformats.org/officeDocument/2006/relationships/hyperlink"/><Relationship Id="rId8" Target="https://github.com/shuvacst/shuvacst.projects/tree/main/mini-lab-03-11-25-pkt" TargetMode="External" Type="http://schemas.openxmlformats.org/officeDocument/2006/relationships/hyperlink"/><Relationship Id="rId9" Target="https://github.com/shuvacst/shuvacst.projects/tree/main/Cisco-Static-MACBinding-ssh-gns3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12" y="-354106"/>
            <a:ext cx="2692006" cy="11453688"/>
            <a:chOff x="0" y="0"/>
            <a:chExt cx="964754" cy="41047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754" cy="4104743"/>
            </a:xfrm>
            <a:custGeom>
              <a:avLst/>
              <a:gdLst/>
              <a:ahLst/>
              <a:cxnLst/>
              <a:rect r="r" b="b" t="t" l="l"/>
              <a:pathLst>
                <a:path h="4104743" w="964754">
                  <a:moveTo>
                    <a:pt x="0" y="0"/>
                  </a:moveTo>
                  <a:lnTo>
                    <a:pt x="964754" y="0"/>
                  </a:lnTo>
                  <a:lnTo>
                    <a:pt x="964754" y="4104743"/>
                  </a:lnTo>
                  <a:lnTo>
                    <a:pt x="0" y="4104743"/>
                  </a:lnTo>
                  <a:close/>
                </a:path>
              </a:pathLst>
            </a:custGeom>
            <a:solidFill>
              <a:srgbClr val="A6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964754" cy="4180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497" y="376077"/>
            <a:ext cx="1677057" cy="1663991"/>
            <a:chOff x="0" y="0"/>
            <a:chExt cx="737426" cy="731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7426" cy="731680"/>
            </a:xfrm>
            <a:custGeom>
              <a:avLst/>
              <a:gdLst/>
              <a:ahLst/>
              <a:cxnLst/>
              <a:rect r="r" b="b" t="t" l="l"/>
              <a:pathLst>
                <a:path h="731680" w="737426">
                  <a:moveTo>
                    <a:pt x="368713" y="0"/>
                  </a:moveTo>
                  <a:cubicBezTo>
                    <a:pt x="165078" y="0"/>
                    <a:pt x="0" y="163792"/>
                    <a:pt x="0" y="365840"/>
                  </a:cubicBezTo>
                  <a:cubicBezTo>
                    <a:pt x="0" y="567888"/>
                    <a:pt x="165078" y="731680"/>
                    <a:pt x="368713" y="731680"/>
                  </a:cubicBezTo>
                  <a:cubicBezTo>
                    <a:pt x="572348" y="731680"/>
                    <a:pt x="737426" y="567888"/>
                    <a:pt x="737426" y="365840"/>
                  </a:cubicBezTo>
                  <a:cubicBezTo>
                    <a:pt x="737426" y="163792"/>
                    <a:pt x="572348" y="0"/>
                    <a:pt x="368713" y="0"/>
                  </a:cubicBezTo>
                  <a:lnTo>
                    <a:pt x="36871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B5998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69134" y="40020"/>
              <a:ext cx="599159" cy="623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037" y="-54388"/>
            <a:ext cx="7650329" cy="1663393"/>
            <a:chOff x="0" y="0"/>
            <a:chExt cx="2792476" cy="607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2476" cy="607591"/>
            </a:xfrm>
            <a:custGeom>
              <a:avLst/>
              <a:gdLst/>
              <a:ahLst/>
              <a:cxnLst/>
              <a:rect r="r" b="b" t="t" l="l"/>
              <a:pathLst>
                <a:path h="607591" w="2792476">
                  <a:moveTo>
                    <a:pt x="2792476" y="0"/>
                  </a:moveTo>
                  <a:lnTo>
                    <a:pt x="2792476" y="607591"/>
                  </a:lnTo>
                  <a:lnTo>
                    <a:pt x="0" y="6075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792476" cy="683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0432" y="319578"/>
            <a:ext cx="1908614" cy="1926646"/>
            <a:chOff x="0" y="0"/>
            <a:chExt cx="6506673" cy="6568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06673" cy="6568143"/>
            </a:xfrm>
            <a:custGeom>
              <a:avLst/>
              <a:gdLst/>
              <a:ahLst/>
              <a:cxnLst/>
              <a:rect r="r" b="b" t="t" l="l"/>
              <a:pathLst>
                <a:path h="6568143" w="6506673">
                  <a:moveTo>
                    <a:pt x="6506673" y="3284111"/>
                  </a:moveTo>
                  <a:cubicBezTo>
                    <a:pt x="6506673" y="5097780"/>
                    <a:pt x="5050076" y="6568143"/>
                    <a:pt x="3253336" y="6568143"/>
                  </a:cubicBezTo>
                  <a:cubicBezTo>
                    <a:pt x="1456571" y="6568143"/>
                    <a:pt x="0" y="5097780"/>
                    <a:pt x="0" y="3284111"/>
                  </a:cubicBezTo>
                  <a:cubicBezTo>
                    <a:pt x="0" y="1470350"/>
                    <a:pt x="1456571" y="0"/>
                    <a:pt x="3253336" y="0"/>
                  </a:cubicBezTo>
                  <a:cubicBezTo>
                    <a:pt x="5050102" y="0"/>
                    <a:pt x="6506673" y="1470350"/>
                    <a:pt x="6506673" y="3284111"/>
                  </a:cubicBezTo>
                  <a:close/>
                </a:path>
              </a:pathLst>
            </a:custGeom>
            <a:blipFill>
              <a:blip r:embed="rId2"/>
              <a:stretch>
                <a:fillRect l="-14091" t="0" r="-1409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31881" y="2743309"/>
            <a:ext cx="125210" cy="135994"/>
          </a:xfrm>
          <a:custGeom>
            <a:avLst/>
            <a:gdLst/>
            <a:ahLst/>
            <a:cxnLst/>
            <a:rect r="r" b="b" t="t" l="l"/>
            <a:pathLst>
              <a:path h="135994" w="125210">
                <a:moveTo>
                  <a:pt x="0" y="0"/>
                </a:moveTo>
                <a:lnTo>
                  <a:pt x="125210" y="0"/>
                </a:lnTo>
                <a:lnTo>
                  <a:pt x="125210" y="135993"/>
                </a:lnTo>
                <a:lnTo>
                  <a:pt x="0" y="135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951" t="0" r="0" b="-1320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8339" y="2989773"/>
            <a:ext cx="138752" cy="99505"/>
          </a:xfrm>
          <a:custGeom>
            <a:avLst/>
            <a:gdLst/>
            <a:ahLst/>
            <a:cxnLst/>
            <a:rect r="r" b="b" t="t" l="l"/>
            <a:pathLst>
              <a:path h="99505" w="138752">
                <a:moveTo>
                  <a:pt x="0" y="0"/>
                </a:moveTo>
                <a:lnTo>
                  <a:pt x="138752" y="0"/>
                </a:lnTo>
                <a:lnTo>
                  <a:pt x="138752" y="99505"/>
                </a:lnTo>
                <a:lnTo>
                  <a:pt x="0" y="9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8339" y="3165478"/>
            <a:ext cx="113393" cy="173978"/>
          </a:xfrm>
          <a:custGeom>
            <a:avLst/>
            <a:gdLst/>
            <a:ahLst/>
            <a:cxnLst/>
            <a:rect r="r" b="b" t="t" l="l"/>
            <a:pathLst>
              <a:path h="173978" w="113393">
                <a:moveTo>
                  <a:pt x="0" y="0"/>
                </a:moveTo>
                <a:lnTo>
                  <a:pt x="113393" y="0"/>
                </a:lnTo>
                <a:lnTo>
                  <a:pt x="113393" y="173978"/>
                </a:lnTo>
                <a:lnTo>
                  <a:pt x="0" y="1739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8339" y="3415656"/>
            <a:ext cx="129395" cy="131669"/>
          </a:xfrm>
          <a:custGeom>
            <a:avLst/>
            <a:gdLst/>
            <a:ahLst/>
            <a:cxnLst/>
            <a:rect r="r" b="b" t="t" l="l"/>
            <a:pathLst>
              <a:path h="131669" w="129395">
                <a:moveTo>
                  <a:pt x="0" y="0"/>
                </a:moveTo>
                <a:lnTo>
                  <a:pt x="129395" y="0"/>
                </a:lnTo>
                <a:lnTo>
                  <a:pt x="129395" y="131669"/>
                </a:lnTo>
                <a:lnTo>
                  <a:pt x="0" y="1316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5139" y="7740650"/>
            <a:ext cx="2411588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Analytical thinking (Practical)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077" y="7205345"/>
            <a:ext cx="2284855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Management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2751" y="5918958"/>
            <a:ext cx="2288686" cy="39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CCTV Installation &amp; Monitoring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6345" y="2409552"/>
            <a:ext cx="2094928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CONTACT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4945" y="2899381"/>
            <a:ext cx="2034897" cy="22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7"/>
              </a:lnSpc>
              <a:spcBef>
                <a:spcPct val="0"/>
              </a:spcBef>
            </a:pPr>
            <a:r>
              <a:rPr lang="en-US" sz="1099" spc="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shuvacst@gmail.com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4945" y="2702181"/>
            <a:ext cx="2030278" cy="22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7"/>
              </a:lnSpc>
              <a:spcBef>
                <a:spcPct val="0"/>
              </a:spcBef>
            </a:pPr>
            <a:r>
              <a:rPr lang="en-US" sz="1099" spc="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1" tooltip="https://wa.me/8801322736650"/>
              </a:rPr>
              <a:t>+8801322736650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4945" y="3122520"/>
            <a:ext cx="2084310" cy="22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7"/>
              </a:lnSpc>
              <a:spcBef>
                <a:spcPct val="0"/>
              </a:spcBef>
            </a:pPr>
            <a:r>
              <a:rPr lang="en-US" sz="1099" spc="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Thakurgaon, Bangladesh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2388" y="4226861"/>
            <a:ext cx="2317091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EXPERTISES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18990" y="373756"/>
            <a:ext cx="3752951" cy="31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7"/>
              </a:lnSpc>
            </a:pPr>
            <a:r>
              <a:rPr lang="en-US" b="true" sz="1899" spc="4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SHUVA ROY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40410" y="753718"/>
            <a:ext cx="3904080" cy="19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72"/>
              </a:lnSpc>
            </a:pPr>
            <a:r>
              <a:rPr lang="en-US" sz="1099" spc="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099" spc="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etwork &amp; System Enthusiast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56449" y="2001969"/>
            <a:ext cx="4465997" cy="77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am eager to start my career as a Network Engineer. I have fundamental knowledge in network setup, Cisco, MikroTik, Linux, and troubleshooting. I enjoy learning new technologies and aim to prove myself through hard work and dedication.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43686" y="1693007"/>
            <a:ext cx="2404884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OBJ</a:t>
            </a:r>
            <a:r>
              <a:rPr lang="en-US" b="true" sz="1399" spc="110" u="non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ECTIVE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4945" y="3339456"/>
            <a:ext cx="2192594" cy="22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7"/>
              </a:lnSpc>
              <a:spcBef>
                <a:spcPct val="0"/>
              </a:spcBef>
            </a:pPr>
            <a:r>
              <a:rPr lang="en-US" sz="1099" spc="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2" tooltip="https://www.linkedin.com/in/shuva-roy/"/>
              </a:rPr>
              <a:t>linkedin.com/in/shuva-roy</a:t>
            </a:r>
          </a:p>
        </p:txBody>
      </p:sp>
      <p:sp>
        <p:nvSpPr>
          <p:cNvPr name="AutoShape 30" id="30"/>
          <p:cNvSpPr/>
          <p:nvPr/>
        </p:nvSpPr>
        <p:spPr>
          <a:xfrm flipV="true">
            <a:off x="2843691" y="1974376"/>
            <a:ext cx="4465997" cy="4762"/>
          </a:xfrm>
          <a:prstGeom prst="line">
            <a:avLst/>
          </a:prstGeom>
          <a:ln cap="flat" w="9525">
            <a:solidFill>
              <a:srgbClr val="211D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218339" y="3642575"/>
            <a:ext cx="141212" cy="143694"/>
          </a:xfrm>
          <a:custGeom>
            <a:avLst/>
            <a:gdLst/>
            <a:ahLst/>
            <a:cxnLst/>
            <a:rect r="r" b="b" t="t" l="l"/>
            <a:pathLst>
              <a:path h="143694" w="141212">
                <a:moveTo>
                  <a:pt x="0" y="0"/>
                </a:moveTo>
                <a:lnTo>
                  <a:pt x="141212" y="0"/>
                </a:lnTo>
                <a:lnTo>
                  <a:pt x="141212" y="143694"/>
                </a:lnTo>
                <a:lnTo>
                  <a:pt x="0" y="1436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44945" y="3553070"/>
            <a:ext cx="1980758" cy="22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7"/>
              </a:lnSpc>
              <a:spcBef>
                <a:spcPct val="0"/>
              </a:spcBef>
            </a:pPr>
            <a:r>
              <a:rPr lang="en-US" sz="1099" spc="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3" tooltip="https://github.com/shuvacst"/>
              </a:rPr>
              <a:t>github.com/shuvacst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6345" y="6742365"/>
            <a:ext cx="2335298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SOFT SKILLS</a:t>
            </a:r>
          </a:p>
        </p:txBody>
      </p:sp>
      <p:sp>
        <p:nvSpPr>
          <p:cNvPr name="AutoShape 34" id="34"/>
          <p:cNvSpPr/>
          <p:nvPr/>
        </p:nvSpPr>
        <p:spPr>
          <a:xfrm>
            <a:off x="206235" y="4554232"/>
            <a:ext cx="24192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206235" y="2719496"/>
            <a:ext cx="24192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61833" y="5158108"/>
            <a:ext cx="2366504" cy="39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MikroTik Configuration (MTCNA)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2751" y="5718298"/>
            <a:ext cx="2284855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IP Subnetting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2077" y="5527163"/>
            <a:ext cx="2295529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Cisco Networking (CCNA 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5139" y="6472678"/>
            <a:ext cx="2292467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 Troubleshooting</a:t>
            </a:r>
          </a:p>
        </p:txBody>
      </p:sp>
      <p:sp>
        <p:nvSpPr>
          <p:cNvPr name="AutoShape 40" id="40"/>
          <p:cNvSpPr/>
          <p:nvPr/>
        </p:nvSpPr>
        <p:spPr>
          <a:xfrm>
            <a:off x="206235" y="7018972"/>
            <a:ext cx="24192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61833" y="6291068"/>
            <a:ext cx="2285773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&amp; Server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2751" y="4966973"/>
            <a:ext cx="2366504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Router &amp; Switch Setup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2751" y="7042784"/>
            <a:ext cx="2284855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 Management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1833" y="4775838"/>
            <a:ext cx="2366504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 Configuration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5139" y="4587570"/>
            <a:ext cx="2366504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Network Fundamentals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2077" y="7386955"/>
            <a:ext cx="2284855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Problem-solving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5139" y="7578090"/>
            <a:ext cx="2284855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 Learning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843686" y="2784096"/>
            <a:ext cx="3410315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NETWORKING SKILLS: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62032" y="3089278"/>
            <a:ext cx="4465997" cy="172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CCNA (Cisco Certified Network Associate):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Networking Basics: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 OSI Model, IPv4 Address, IPv6 Address, Network Architecture.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Routing:</a:t>
            </a:r>
          </a:p>
          <a:p>
            <a:pPr algn="just" marL="474978" indent="-158326" lvl="2">
              <a:lnSpc>
                <a:spcPts val="1539"/>
              </a:lnSpc>
              <a:buFont typeface="Arial"/>
              <a:buChar char="⚬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Static Routing, Default-Static Routing, Floating Static Route</a:t>
            </a:r>
          </a:p>
          <a:p>
            <a:pPr algn="just" marL="474978" indent="-158326" lvl="2">
              <a:lnSpc>
                <a:spcPts val="1539"/>
              </a:lnSpc>
              <a:buFont typeface="Arial"/>
              <a:buChar char="⚬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OSPF, EIGRP, BGP, HSRP, IP Route Aggregation</a:t>
            </a:r>
          </a:p>
          <a:p>
            <a:pPr algn="just" marL="474978" indent="-158326" lvl="2">
              <a:lnSpc>
                <a:spcPts val="1539"/>
              </a:lnSpc>
              <a:buFont typeface="Arial"/>
              <a:buChar char="⚬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Route-Map (Policy-Based Routing), IP SLA (WAN Failover Implementation)</a:t>
            </a:r>
          </a:p>
        </p:txBody>
      </p:sp>
      <p:sp>
        <p:nvSpPr>
          <p:cNvPr name="AutoShape 50" id="50"/>
          <p:cNvSpPr/>
          <p:nvPr/>
        </p:nvSpPr>
        <p:spPr>
          <a:xfrm flipV="true">
            <a:off x="2856444" y="3051178"/>
            <a:ext cx="4465997" cy="4762"/>
          </a:xfrm>
          <a:prstGeom prst="line">
            <a:avLst/>
          </a:prstGeom>
          <a:ln cap="flat" w="9525">
            <a:solidFill>
              <a:srgbClr val="211D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2856444" y="4845620"/>
            <a:ext cx="446571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Switching: 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VLAN, Inter-VLAN Routing, STP, VTP, EtherChannel.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 Security: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rivate &amp; Public Key Concept, ACL, VPN, Switchport Security, DHCP snooping, Port Forwarding/NAT.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Protocols: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 TCP/IP, DHCP, DNS, ARP, ICMP, FTP/SFTP, SSH/Telnet, HTTP/HTTPS.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856444" y="5846380"/>
            <a:ext cx="446571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MTCNA (MikroTik Certified Network Associate):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IP Addressing &amp; Routing: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 IPv4 addressing, Static Routing, Default Routing, PPPoE, IPsec, GRE tunnels,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Wireless Networking: 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MikroTik Wireless setup, SSID configuration, Security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860457" y="6826294"/>
            <a:ext cx="4465138" cy="191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&amp; SERVER MANAGEMENT: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Windows Server Management: 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Installation, Configuration &amp; Maintenance.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Active Directory (AD DS): 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User/Group Management, OU Structure, Policies.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Group Policy Management (GPO): 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Security Policies, Login Sc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ripts, Restrictions.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Dell PowerEdge Server Management: 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iDRAC, Hardware Monitoring, Virtual Console, Firmware Updates.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Hands-on Experience with Dell Servers.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860457" y="8760504"/>
            <a:ext cx="4469147" cy="77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CCTV &amp; IP Camera Conce</a:t>
            </a: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pts: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Analog &amp; IP surveillance sys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tems, cabling, NVR/DVR setup, camera configuration, storage management, remote viewing, network planning,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 security &amp; maintenance.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843686" y="9551714"/>
            <a:ext cx="4465138" cy="77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Ba</a:t>
            </a: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sic Computer Hardware: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PC components, assembly, BIOS setup, troubleshooting, OS installation, driver management, hardware diagnostics &amp; replacement.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223880" y="3833894"/>
            <a:ext cx="141212" cy="143694"/>
          </a:xfrm>
          <a:custGeom>
            <a:avLst/>
            <a:gdLst/>
            <a:ahLst/>
            <a:cxnLst/>
            <a:rect r="r" b="b" t="t" l="l"/>
            <a:pathLst>
              <a:path h="143694" w="141212">
                <a:moveTo>
                  <a:pt x="0" y="0"/>
                </a:moveTo>
                <a:lnTo>
                  <a:pt x="141212" y="0"/>
                </a:lnTo>
                <a:lnTo>
                  <a:pt x="141212" y="143694"/>
                </a:lnTo>
                <a:lnTo>
                  <a:pt x="0" y="1436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444945" y="3765597"/>
            <a:ext cx="2137006" cy="22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7"/>
              </a:lnSpc>
              <a:spcBef>
                <a:spcPct val="0"/>
              </a:spcBef>
            </a:pPr>
            <a:r>
              <a:rPr lang="en-US" sz="1099" spc="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4" tooltip="http://shuvacst.github.io"/>
              </a:rPr>
              <a:t>shuvacst.github.io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86345" y="8007985"/>
            <a:ext cx="2335298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TECHNICAL SKILLS</a:t>
            </a:r>
          </a:p>
        </p:txBody>
      </p:sp>
      <p:sp>
        <p:nvSpPr>
          <p:cNvPr name="AutoShape 59" id="59"/>
          <p:cNvSpPr/>
          <p:nvPr/>
        </p:nvSpPr>
        <p:spPr>
          <a:xfrm>
            <a:off x="218339" y="8288973"/>
            <a:ext cx="24192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206235" y="8312785"/>
            <a:ext cx="2322102" cy="210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Servers &amp; V</a:t>
            </a: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irtualization: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Windows Server 2022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Active Directory, DNS Server,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Virtual Machines (VMware, VirtualBox, Hyper-V)</a:t>
            </a: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Utilities: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Wireshark, GNS3,  Cisco Packet Tracer,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Winbox, Tera term, Putty, Remote Desktop Tools </a:t>
            </a:r>
          </a:p>
          <a:p>
            <a:pPr algn="just">
              <a:lnSpc>
                <a:spcPts val="153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055" y="-364269"/>
            <a:ext cx="2689935" cy="11308015"/>
            <a:chOff x="0" y="0"/>
            <a:chExt cx="964012" cy="4052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012" cy="4052537"/>
            </a:xfrm>
            <a:custGeom>
              <a:avLst/>
              <a:gdLst/>
              <a:ahLst/>
              <a:cxnLst/>
              <a:rect r="r" b="b" t="t" l="l"/>
              <a:pathLst>
                <a:path h="4052537" w="964012">
                  <a:moveTo>
                    <a:pt x="0" y="0"/>
                  </a:moveTo>
                  <a:lnTo>
                    <a:pt x="964012" y="0"/>
                  </a:lnTo>
                  <a:lnTo>
                    <a:pt x="964012" y="4052537"/>
                  </a:lnTo>
                  <a:lnTo>
                    <a:pt x="0" y="4052537"/>
                  </a:lnTo>
                  <a:close/>
                </a:path>
              </a:pathLst>
            </a:custGeom>
            <a:solidFill>
              <a:srgbClr val="A6A6A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964012" cy="4128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966" y="5891621"/>
            <a:ext cx="2412699" cy="39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English (Good reading, basic communication skills)</a:t>
            </a:r>
          </a:p>
        </p:txBody>
      </p:sp>
      <p:sp>
        <p:nvSpPr>
          <p:cNvPr name="AutoShape 6" id="6"/>
          <p:cNvSpPr/>
          <p:nvPr/>
        </p:nvSpPr>
        <p:spPr>
          <a:xfrm>
            <a:off x="112313" y="5682044"/>
            <a:ext cx="24192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8813" y="5690961"/>
            <a:ext cx="2412699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Bangla (Native &amp; Fluent)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284" y="5410200"/>
            <a:ext cx="1637942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LANGUAGES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740" y="6672591"/>
            <a:ext cx="2477134" cy="300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Md. Alamgir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Instructor, Computer Technology. at Thakurgaon Polytechnic Institute, Thakurgaon. 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B.Sc in Computer Science &amp; Engineering 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+8801724334828 </a:t>
            </a:r>
          </a:p>
          <a:p>
            <a:pPr algn="l">
              <a:lnSpc>
                <a:spcPts val="1539"/>
              </a:lnSpc>
            </a:pPr>
          </a:p>
          <a:p>
            <a:pPr algn="l">
              <a:lnSpc>
                <a:spcPts val="1539"/>
              </a:lnSpc>
            </a:pPr>
            <a:r>
              <a:rPr lang="en-US" sz="10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MD. MUSHFIQUR RAHMAN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M.Sc. in Information System &amp; Security 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B.Sc. in Computer Science &amp; Engineering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Founder &amp; Senior Technical Trainer of Networking (IT Bangladesh) 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+8801982672499 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Email: mushfiqbd.cse@gmail.com </a:t>
            </a:r>
          </a:p>
          <a:p>
            <a:pPr algn="l">
              <a:lnSpc>
                <a:spcPts val="1539"/>
              </a:lnSpc>
            </a:pPr>
          </a:p>
        </p:txBody>
      </p:sp>
      <p:sp>
        <p:nvSpPr>
          <p:cNvPr name="AutoShape 10" id="10"/>
          <p:cNvSpPr/>
          <p:nvPr/>
        </p:nvSpPr>
        <p:spPr>
          <a:xfrm flipV="true">
            <a:off x="2863461" y="3538974"/>
            <a:ext cx="4465992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12313" y="6340745"/>
            <a:ext cx="3740914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9"/>
              </a:lnSpc>
            </a:pPr>
            <a:r>
              <a:rPr lang="en-US" b="true" sz="1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966" y="448058"/>
            <a:ext cx="2415368" cy="248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Enterprise Branch–Head Office Network Implementation (Cisco Real Devices): </a:t>
            </a:r>
          </a:p>
          <a:p>
            <a:pPr algn="l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Designed and deployed a multi-site Cisco network (routers, L2/L3 switches).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Implemented OSPF, VLSM, VLAN/Inter-VLAN routing, DHCP, EtherChannel, and port-security.</a:t>
            </a:r>
          </a:p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Used:</a:t>
            </a: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Cisco Router, Switch, PCs, Console Cable, Ethernet Cables, Tera Term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13" y="154432"/>
            <a:ext cx="2433838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HANDS-ON PROJECTS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966" y="3037840"/>
            <a:ext cx="2415368" cy="229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Enterprise Connectivity Setup (Cisco &amp; MikroTik):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Deployed a dual-vendor network (Cisco &amp; MikroTik) for seamless workstation connectivity.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Configured Static Routing, VLANs, NAT, and DHCP.</a:t>
            </a:r>
          </a:p>
          <a:p>
            <a:pPr algn="just">
              <a:lnSpc>
                <a:spcPts val="1539"/>
              </a:lnSpc>
            </a:pPr>
            <a:r>
              <a:rPr lang="en-US" b="true" sz="1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Used:</a:t>
            </a:r>
            <a:r>
              <a:rPr lang="en-US" sz="1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MikroTik Router, Cisco Router, Switch, PCs, Console Cable, Ethernet Cables, Tera Term, Winbox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37284" y="461804"/>
            <a:ext cx="2415368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863467" y="2299707"/>
            <a:ext cx="443552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IT Bangladesh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 (September / 2025 – Present) </a:t>
            </a:r>
          </a:p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Diploma on "Networking &amp; System Administration"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Website: itbangladesh.tech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Contact No: +8801982672499 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Kazipara-Dhaka 558/1, East Kazipara,Mirpur,Bangladesh 1216.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47635" y="2011385"/>
            <a:ext cx="2011183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63441" y="144907"/>
            <a:ext cx="1637942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</a:t>
            </a:r>
            <a:r>
              <a:rPr lang="en-US" b="true" sz="1399" spc="1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TIONS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2863446" y="431039"/>
            <a:ext cx="4465997" cy="4762"/>
          </a:xfrm>
          <a:prstGeom prst="line">
            <a:avLst/>
          </a:prstGeom>
          <a:ln cap="flat" w="9525">
            <a:solidFill>
              <a:srgbClr val="211D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863446" y="448058"/>
            <a:ext cx="4465997" cy="153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DIPLOMA IN COMPUTER SCIENCE AND TECHNOLOGY 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Thakurgaon Polytechnic Institute, Thakurgaon, Bangladesh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Expected Completion: December 2025</a:t>
            </a:r>
          </a:p>
          <a:p>
            <a:pPr algn="just">
              <a:lnSpc>
                <a:spcPts val="1539"/>
              </a:lnSpc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SECONDARY SCHOOL CERTIFICATE (SSC)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Balarampur High School, Atwari, Panchagarh, Bangladesh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Completed: December 30, 2021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Board: BTEB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GPA- 4.96 in the scale of 5.00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2863467" y="2309232"/>
            <a:ext cx="4465997" cy="4762"/>
          </a:xfrm>
          <a:prstGeom prst="line">
            <a:avLst/>
          </a:prstGeom>
          <a:ln cap="flat" w="9525">
            <a:solidFill>
              <a:srgbClr val="211D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3723479" y="10311776"/>
            <a:ext cx="2523941" cy="21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7"/>
              </a:lnSpc>
              <a:spcBef>
                <a:spcPct val="0"/>
              </a:spcBef>
            </a:pPr>
            <a:r>
              <a:rPr lang="en-US" sz="1099" spc="9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Last updated: November 2025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8828" y="10311776"/>
            <a:ext cx="2361172" cy="21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7"/>
              </a:lnSpc>
              <a:spcBef>
                <a:spcPct val="0"/>
              </a:spcBef>
            </a:pPr>
            <a:r>
              <a:rPr lang="en-US" sz="1099" spc="9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Portfolio:[</a:t>
            </a:r>
            <a:r>
              <a:rPr lang="en-US" sz="1099" spc="9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2" tooltip="http://shuvacst.github.io"/>
              </a:rPr>
              <a:t>shuvacst.github.io</a:t>
            </a:r>
            <a:r>
              <a:rPr lang="en-US" sz="1099" spc="9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12313" y="6600460"/>
            <a:ext cx="24192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33966" y="9166086"/>
            <a:ext cx="125210" cy="135994"/>
          </a:xfrm>
          <a:custGeom>
            <a:avLst/>
            <a:gdLst/>
            <a:ahLst/>
            <a:cxnLst/>
            <a:rect r="r" b="b" t="t" l="l"/>
            <a:pathLst>
              <a:path h="135994" w="125210">
                <a:moveTo>
                  <a:pt x="0" y="0"/>
                </a:moveTo>
                <a:lnTo>
                  <a:pt x="125211" y="0"/>
                </a:lnTo>
                <a:lnTo>
                  <a:pt x="125211" y="135993"/>
                </a:lnTo>
                <a:lnTo>
                  <a:pt x="0" y="135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951" t="0" r="0" b="-13202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3740" y="7749846"/>
            <a:ext cx="125210" cy="135994"/>
          </a:xfrm>
          <a:custGeom>
            <a:avLst/>
            <a:gdLst/>
            <a:ahLst/>
            <a:cxnLst/>
            <a:rect r="r" b="b" t="t" l="l"/>
            <a:pathLst>
              <a:path h="135994" w="125210">
                <a:moveTo>
                  <a:pt x="0" y="0"/>
                </a:moveTo>
                <a:lnTo>
                  <a:pt x="125210" y="0"/>
                </a:lnTo>
                <a:lnTo>
                  <a:pt x="125210" y="135994"/>
                </a:lnTo>
                <a:lnTo>
                  <a:pt x="0" y="1359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951" t="0" r="0" b="-13202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832996" y="3271893"/>
            <a:ext cx="3971004" cy="27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1399" spc="1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1399" spc="11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IMULATION PROJECTS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63461" y="3577074"/>
            <a:ext cx="4465997" cy="115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1. Static MAC Binding &amp; SSH Configuration (Cisco – GNS3)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Configured static MAC addresses on Cisco switches and implemented SSH secure access in a GNS3 simulation.</a:t>
            </a:r>
          </a:p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link: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 u="sng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shuvacst/shuvacst.projects/tree/main/Cisco-Static-MACBinding-ssh-gns3"/>
              </a:rPr>
              <a:t>github.com/shuvacst/shuvacst.projects/tree/main/Cisco-Static-MACBinding-ssh-gns3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63461" y="4739759"/>
            <a:ext cx="4465997" cy="13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2. EIGRP Routing, NAT &amp; ACL Implementation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Conf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igured a robust GNS3 lab utilizing EIGRP for dynamic routing, PAT for secure Internet access, and ACLs for traffic filtering.</a:t>
            </a:r>
          </a:p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link: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 u="sng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  <a:hlinkClick r:id="rId6" tooltip="https://github.com/shuvacst/shuvacst.projects/tree/main/eigrp-nat-acl-30-10-25"/>
              </a:rPr>
              <a:t>github.com/shuvacst/shuvacst.projects/tree/main/eigrp-nat-acl-30-10-25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847635" y="6073895"/>
            <a:ext cx="4465997" cy="13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3. MikroTik + Cisco Integration Lab (GNS3)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Engineered a Dual-Homed WAN solution integrating MikroTik and Cisco (GNS3 ), using IP SLA and Floating Static Routes for automatic failover and High Availability.</a:t>
            </a:r>
          </a:p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link: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 u="sng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  <a:hlinkClick r:id="rId7" tooltip="https://github.com/shuvacst/shuvacst.projects/tree/main/mikrotic%2Bcisco-29-10-25-gns3"/>
              </a:rPr>
              <a:t>github.com/shuvacst/shuvacst.projects/tree/main/mikrotic%2Bcisco-29-10-25-gns3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63461" y="7408030"/>
            <a:ext cx="4465997" cy="13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true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4. Mini Network Lab – Packet Tracer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</a:rPr>
              <a:t>esigned a multi-layer network (Packet Tracer ) with HSRP for gateway redundancy, EtherChannel for link aggregation, and OSPF for efficient routing across multiple VLANs.</a:t>
            </a:r>
          </a:p>
          <a:p>
            <a:pPr algn="just">
              <a:lnSpc>
                <a:spcPts val="1539"/>
              </a:lnSpc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link: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 u="sng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  <a:hlinkClick r:id="rId8" tooltip="https://github.com/shuvacst/shuvacst.projects/tree/main/mini-lab-03-11-25-pkt"/>
              </a:rPr>
              <a:t>github.com/shuvacst/shuvacst.projects/tree/main/mini-lab-03-11-25-pkt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63441" y="8761215"/>
            <a:ext cx="4465997" cy="13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  <a:hlinkClick r:id="rId9" tooltip="https://github.com/shuvacst/shuvacst.projects/tree/main/Cisco-Static-MACBinding-ssh-gns3"/>
              </a:rPr>
              <a:t>5. Advanced Networking Lab – Packet Tracer</a:t>
            </a:r>
          </a:p>
          <a:p>
            <a:pPr algn="just">
              <a:lnSpc>
                <a:spcPts val="1539"/>
              </a:lnSpc>
            </a:pPr>
            <a:r>
              <a:rPr lang="en-US" sz="1099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  <a:hlinkClick r:id="rId10" tooltip="https://github.com/shuvacst/shuvacst.projects/tree/main/Cisco-Static-MACBinding-ssh-gns3"/>
              </a:rPr>
              <a:t>multi-branch network (Packet Tracer ) using Switchport Security and Extended ACLs to restrict server access, while ensuring high availability with HSRP and EIGRP.</a:t>
            </a:r>
          </a:p>
          <a:p>
            <a:pPr algn="just">
              <a:lnSpc>
                <a:spcPts val="1539"/>
              </a:lnSpc>
            </a:pPr>
            <a:r>
              <a:rPr lang="en-US" b="true" sz="1099">
                <a:solidFill>
                  <a:srgbClr val="040119"/>
                </a:solidFill>
                <a:latin typeface="Poppins Bold"/>
                <a:ea typeface="Poppins Bold"/>
                <a:cs typeface="Poppins Bold"/>
                <a:sym typeface="Poppins Bold"/>
                <a:hlinkClick r:id="rId11" tooltip="https://github.com/shuvacst/shuvacst.projects/tree/main/Cisco-Static-MACBinding-ssh-gns3"/>
              </a:rPr>
              <a:t>Project link: </a:t>
            </a:r>
          </a:p>
          <a:p>
            <a:pPr algn="just" marL="237489" indent="-118744" lvl="1">
              <a:lnSpc>
                <a:spcPts val="1539"/>
              </a:lnSpc>
              <a:buFont typeface="Arial"/>
              <a:buChar char="•"/>
            </a:pPr>
            <a:r>
              <a:rPr lang="en-US" sz="1099" u="sng">
                <a:solidFill>
                  <a:srgbClr val="040119"/>
                </a:solidFill>
                <a:latin typeface="Poppins"/>
                <a:ea typeface="Poppins"/>
                <a:cs typeface="Poppins"/>
                <a:sym typeface="Poppins"/>
                <a:hlinkClick r:id="rId12" tooltip="https://github.com/shuvacst/shuvacst.projects/tree/main/networking-Lab-8-11-25-pkt"/>
              </a:rPr>
              <a:t>github.com/shuvacst/shuvacst.projects/tree/main/networking-Lab-8-11-25-pkt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DAG5tFc2Eik</dc:identifier>
  <dcterms:modified xsi:type="dcterms:W3CDTF">2011-08-01T06:04:30Z</dcterms:modified>
  <cp:revision>1</cp:revision>
  <dc:title>Copy of Blue and Gray Simple Professional CV Resume</dc:title>
</cp:coreProperties>
</file>